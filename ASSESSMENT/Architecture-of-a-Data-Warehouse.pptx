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embeddedFontLst>
    <p:embeddedFont>
      <p:font typeface="Barlow SemiBold"/>
      <p:regular r:id="rId201314"/>
    </p:embeddedFont>
    <p:embeddedFont>
      <p:font typeface="Barlow Thin"/>
      <p:regular r:id="rId201315"/>
    </p:embeddedFont>
    <p:embeddedFont>
      <p:font typeface="Barlow ExtraLight"/>
      <p:regular r:id="rId201316"/>
    </p:embeddedFont>
    <p:embeddedFont>
      <p:font typeface="Barlow Light"/>
      <p:regular r:id="rId201317"/>
    </p:embeddedFont>
    <p:embeddedFont>
      <p:font typeface="Barlow"/>
      <p:regular r:id="rId201318"/>
    </p:embeddedFont>
    <p:embeddedFont>
      <p:font typeface="Barlow Medium"/>
      <p:regular r:id="rId201319"/>
    </p:embeddedFont>
    <p:embeddedFont>
      <p:font typeface="Barlow Bold"/>
      <p:regular r:id="rId201320"/>
    </p:embeddedFont>
    <p:embeddedFont>
      <p:font typeface="Barlow ExtraBold"/>
      <p:regular r:id="rId201321"/>
    </p:embeddedFont>
    <p:embeddedFont>
      <p:font typeface="Barlow Black"/>
      <p:regular r:id="rId201322"/>
    </p:embeddedFont>
    <p:embeddedFont>
      <p:font typeface="Spline Sans Medium"/>
      <p:regular r:id="rId201323"/>
    </p:embeddedFont>
    <p:embeddedFont>
      <p:font typeface="Spline Sans SemiBold"/>
      <p:regular r:id="rId201324"/>
    </p:embeddedFont>
    <p:embeddedFont>
      <p:font typeface="Spline Sans Bold"/>
      <p:regular r:id="rId201325"/>
    </p:embeddedFont>
    <p:embeddedFont>
      <p:font typeface="Spline Sans Light"/>
      <p:regular r:id="rId201326"/>
    </p:embeddedFont>
    <p:embeddedFont>
      <p:font typeface="Spline Sans"/>
      <p:regular r:id="rId2013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0A081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2093" y="388516"/>
            <a:ext cx="3274740" cy="43663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0023" y="1780505"/>
            <a:ext cx="463495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Architecture of a Data Warehouse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0023" y="2869183"/>
            <a:ext cx="463495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beginner's guide to how modern data warehouses are structured — layer by layer, from raw data to business insights.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67544"/>
            <a:ext cx="8063954" cy="361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What Is a Data Warehouse?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40023" y="1092771"/>
            <a:ext cx="3873178" cy="1059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</a:t>
            </a:r>
            <a:pPr algn="l" indent="0" marL="0">
              <a:lnSpc>
                <a:spcPct val="123000"/>
              </a:lnSpc>
              <a:buNone/>
            </a:pPr>
            <a:r>
              <a:rPr lang="en-US" sz="10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 warehouse</a:t>
            </a:r>
            <a:pPr algn="l" indent="0" marL="0">
              <a:lnSpc>
                <a:spcPct val="123000"/>
              </a:lnSpc>
              <a:spcAft>
                <a:spcPts val="750"/>
              </a:spcAft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is a centralized repository that stores large volumes of structured, historical data from multiple sources — purpose-built for analysis and reporting, not day-to-day operations.</a:t>
            </a:r>
            <a:endParaRPr lang="en-US" sz="10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concept was defined by </a:t>
            </a:r>
            <a:pPr algn="l" indent="0" marL="0">
              <a:lnSpc>
                <a:spcPct val="123000"/>
              </a:lnSpc>
              <a:buNone/>
            </a:pPr>
            <a:r>
              <a:rPr lang="en-US" sz="10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Bill Inmon in 1990</a:t>
            </a:r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who described four essential characteristics that distinguish a true data warehouse: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35562" y="1103784"/>
            <a:ext cx="3873178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35562" y="1394445"/>
            <a:ext cx="3873178" cy="960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Operational systems (like order processing or customer management) are optimized for speed and transactions. A data warehouse </a:t>
            </a:r>
            <a:pPr algn="l" indent="0" marL="0">
              <a:lnSpc>
                <a:spcPct val="123000"/>
              </a:lnSpc>
              <a:buNone/>
            </a:pPr>
            <a:r>
              <a:rPr lang="en-US" sz="10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separates analytical workloads</a:t>
            </a:r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from those systems, enabling teams to run complex queries without slowing down production.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35562" y="2478286"/>
            <a:ext cx="3873178" cy="838870"/>
          </a:xfrm>
          <a:prstGeom prst="roundRect">
            <a:avLst>
              <a:gd name="adj" fmla="val 23280"/>
            </a:avLst>
          </a:prstGeom>
          <a:solidFill>
            <a:srgbClr val="00805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5712" y="2674665"/>
            <a:ext cx="162744" cy="1301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58606" y="2609627"/>
            <a:ext cx="3319983" cy="576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Result: organizations can make </a:t>
            </a:r>
            <a:pPr algn="l" indent="0" marL="0">
              <a:lnSpc>
                <a:spcPct val="123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data-driven decisions</a:t>
            </a:r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confidently, backed by clean, historical, and integrated data.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0023" y="3564210"/>
            <a:ext cx="1933575" cy="1111746"/>
          </a:xfrm>
          <a:prstGeom prst="roundRect">
            <a:avLst>
              <a:gd name="adj" fmla="val 17566"/>
            </a:avLst>
          </a:prstGeom>
          <a:solidFill>
            <a:srgbClr val="0A081B"/>
          </a:solidFill>
          <a:ln w="14288">
            <a:solidFill>
              <a:srgbClr val="16FFB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4461" y="3708648"/>
            <a:ext cx="1644700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Subject-Oriented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4461" y="3955331"/>
            <a:ext cx="1644700" cy="576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Organized around key business topics like sales, finance, or customers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583433" y="3564210"/>
            <a:ext cx="1933649" cy="1111746"/>
          </a:xfrm>
          <a:prstGeom prst="roundRect">
            <a:avLst>
              <a:gd name="adj" fmla="val 17566"/>
            </a:avLst>
          </a:prstGeom>
          <a:solidFill>
            <a:srgbClr val="0A081B"/>
          </a:solidFill>
          <a:ln w="14288">
            <a:solidFill>
              <a:srgbClr val="29DDD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27871" y="3708648"/>
            <a:ext cx="1644774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Integrated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27871" y="3955331"/>
            <a:ext cx="1644774" cy="576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Consolidates data from diverse source systems into a consistent format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26918" y="3564210"/>
            <a:ext cx="1933575" cy="1111746"/>
          </a:xfrm>
          <a:prstGeom prst="roundRect">
            <a:avLst>
              <a:gd name="adj" fmla="val 17566"/>
            </a:avLst>
          </a:prstGeom>
          <a:solidFill>
            <a:srgbClr val="0A081B"/>
          </a:solidFill>
          <a:ln w="14288">
            <a:solidFill>
              <a:srgbClr val="37A7E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71355" y="3708648"/>
            <a:ext cx="1644700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Time-Variant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771355" y="3955331"/>
            <a:ext cx="1644700" cy="576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Stores historical snapshots so trends can be analyzed over time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670328" y="3564210"/>
            <a:ext cx="1933649" cy="1111746"/>
          </a:xfrm>
          <a:prstGeom prst="roundRect">
            <a:avLst>
              <a:gd name="adj" fmla="val 17566"/>
            </a:avLst>
          </a:prstGeom>
          <a:solidFill>
            <a:srgbClr val="0A081B"/>
          </a:solidFill>
          <a:ln w="14288">
            <a:solidFill>
              <a:srgbClr val="09123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14765" y="3708648"/>
            <a:ext cx="1644774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Non-Volatile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814765" y="3955331"/>
            <a:ext cx="1644774" cy="576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 is read-only once loaded — stable and never overwritten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543595"/>
            <a:ext cx="806395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Layer 1: Data Sources &amp; Ingestion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0023" y="1280815"/>
            <a:ext cx="806395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Every data warehouse begins by collecting raw data from the systems where it originates. This first layer is all about </a:t>
            </a:r>
            <a:pPr algn="l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what feeds the warehouse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and how that data arrives.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1948160"/>
            <a:ext cx="1484412" cy="9173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0023" y="3058418"/>
            <a:ext cx="255939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Source Systems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40023" y="3365302"/>
            <a:ext cx="2559397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CRM, ERP, flat files, web logs, APIs, and external databases — these are the raw inputs that supply the warehouse with business data.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2301" y="1948160"/>
            <a:ext cx="1484412" cy="91737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92301" y="3058418"/>
            <a:ext cx="255939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Ingestion Methods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292301" y="3365302"/>
            <a:ext cx="2559397" cy="1234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Batch loading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runs scheduled ETL jobs at set intervals. </a:t>
            </a:r>
            <a:pPr algn="l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Real-time streaming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tools like Kafka and Kinesis deliver data continuously as events occur.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580" y="1948160"/>
            <a:ext cx="1484412" cy="91737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4580" y="3058418"/>
            <a:ext cx="255939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 Staging Area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044580" y="3365302"/>
            <a:ext cx="2559397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temporary landing zone where raw data is held before any transformation takes place — keeping source systems completely unaffected.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40978"/>
            <a:ext cx="8063954" cy="328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Layer 2: ETL Pipeline — Transform &amp; Load</a:t>
            </a:r>
            <a:endParaRPr lang="en-US" sz="2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1234678"/>
            <a:ext cx="5140672" cy="27228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93001" y="3180664"/>
            <a:ext cx="1129796" cy="141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Extract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161393" y="3367081"/>
            <a:ext cx="1361405" cy="224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Pull raw data from source systems.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95891" y="1600538"/>
            <a:ext cx="1129796" cy="141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Transform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64282" y="1786954"/>
            <a:ext cx="1361405" cy="224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Cleanse, dedupe, standardize, apply rules.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714733" y="1600538"/>
            <a:ext cx="1129796" cy="141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Load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714733" y="1786954"/>
            <a:ext cx="1361405" cy="224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Push clean data to the warehouse.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194896" y="3180753"/>
            <a:ext cx="1129796" cy="141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ELT Shift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194896" y="3367169"/>
            <a:ext cx="1361405" cy="224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Load first, then transform in cloud warehouses.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40023" y="4059213"/>
            <a:ext cx="5140672" cy="333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ETL pipeline is the engine of the data warehouse — it moves data from raw and messy to clean and analysis-ready.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973589" y="995214"/>
            <a:ext cx="2635076" cy="16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Extract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73589" y="1249710"/>
            <a:ext cx="2635076" cy="333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 is pulled from heterogeneous sources in its original format — databases, files, APIs, and more.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973589" y="1673944"/>
            <a:ext cx="2635076" cy="16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Transform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973589" y="1928440"/>
            <a:ext cx="2635076" cy="667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This is where the heavy lifting happens: </a:t>
            </a:r>
            <a:pPr algn="l" indent="0" marL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cleansing</a:t>
            </a:r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errors, </a:t>
            </a:r>
            <a:pPr algn="l" indent="0" marL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deduplicating</a:t>
            </a:r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records, standardizing formats, applying business rules, and resolving conflicts between sources.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973589" y="2686496"/>
            <a:ext cx="2635076" cy="16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Load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973589" y="2940993"/>
            <a:ext cx="2635076" cy="667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Clean, structured data is pushed into the central warehouse. A </a:t>
            </a:r>
            <a:pPr algn="l" indent="0" marL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full load</a:t>
            </a:r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is used for initial setup; </a:t>
            </a:r>
            <a:pPr algn="l" indent="0" marL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incremental loads</a:t>
            </a:r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handle ongoing updates efficiently.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973589" y="3699049"/>
            <a:ext cx="2635076" cy="16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Modern Shift: ELT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973589" y="3953545"/>
            <a:ext cx="2635076" cy="667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Cloud-native warehouses like </a:t>
            </a:r>
            <a:pPr algn="l" indent="0" marL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Snowflake</a:t>
            </a:r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and </a:t>
            </a:r>
            <a:pPr algn="l" indent="0" marL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BigQuery</a:t>
            </a:r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increasingly favor </a:t>
            </a:r>
            <a:pPr algn="l" indent="0" marL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ELT</a:t>
            </a:r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loading raw data first and transforming it inside the warehouse using its own compute power.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0A081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6466" y="367680"/>
            <a:ext cx="3305994" cy="44080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0023" y="486147"/>
            <a:ext cx="4634954" cy="683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Layer 3: Storage — The Core Warehouse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540023" y="1316236"/>
            <a:ext cx="4634954" cy="353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This is where the cleaned, integrated data lives. The storage layer is organized around two key table types and carefully chosen schema designs.</a:t>
            </a:r>
            <a:endParaRPr lang="en-US" sz="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023" y="1889968"/>
            <a:ext cx="2167533" cy="12497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4392" y="2027188"/>
            <a:ext cx="1835944" cy="170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Fact Tables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734392" y="2295897"/>
            <a:ext cx="1835944" cy="706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Store measurable business events — sales, transactions, clicks — with </a:t>
            </a:r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numeric metrics</a:t>
            </a:r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and foreign keys linking to dimensions.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0023" y="3237681"/>
            <a:ext cx="2167533" cy="12497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4392" y="3374901"/>
            <a:ext cx="1835944" cy="170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Dimension Tables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734392" y="3643610"/>
            <a:ext cx="1835944" cy="706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Provide context: </a:t>
            </a:r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who, what, when, where</a:t>
            </a:r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customers, products, dates, and locations that describe each fact.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3012207" y="1889968"/>
            <a:ext cx="2167533" cy="2657177"/>
          </a:xfrm>
          <a:prstGeom prst="roundRect">
            <a:avLst>
              <a:gd name="adj" fmla="val 8509"/>
            </a:avLst>
          </a:prstGeom>
          <a:solidFill>
            <a:srgbClr val="0A081B"/>
          </a:solidFill>
          <a:ln w="14288">
            <a:solidFill>
              <a:srgbClr val="16FFBB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3026494" y="1904256"/>
            <a:ext cx="2138958" cy="1225972"/>
          </a:xfrm>
          <a:prstGeom prst="rect">
            <a:avLst/>
          </a:prstGeom>
          <a:solidFill>
            <a:srgbClr val="0A081B"/>
          </a:solidFill>
          <a:ln/>
        </p:spPr>
      </p:sp>
      <p:sp>
        <p:nvSpPr>
          <p:cNvPr id="14" name="Text 9"/>
          <p:cNvSpPr/>
          <p:nvPr/>
        </p:nvSpPr>
        <p:spPr>
          <a:xfrm>
            <a:off x="3149426" y="2027188"/>
            <a:ext cx="1893094" cy="175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⭐</a:t>
            </a:r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Star Schema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3149426" y="2300660"/>
            <a:ext cx="1893094" cy="706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Fact table at the center, dimension tables branching outward. </a:t>
            </a:r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Simple and fast</a:t>
            </a:r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for queries — the most common choice for beginners.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3026494" y="3130228"/>
            <a:ext cx="2138958" cy="1402631"/>
          </a:xfrm>
          <a:prstGeom prst="rect">
            <a:avLst/>
          </a:prstGeom>
          <a:solidFill>
            <a:srgbClr val="0A081B"/>
          </a:solidFill>
          <a:ln/>
        </p:spPr>
      </p:sp>
      <p:sp>
        <p:nvSpPr>
          <p:cNvPr id="17" name="Shape 12"/>
          <p:cNvSpPr/>
          <p:nvPr/>
        </p:nvSpPr>
        <p:spPr>
          <a:xfrm>
            <a:off x="3026494" y="3130228"/>
            <a:ext cx="2138958" cy="14288"/>
          </a:xfrm>
          <a:prstGeom prst="roundRect">
            <a:avLst>
              <a:gd name="adj" fmla="val 1290891"/>
            </a:avLst>
          </a:prstGeom>
          <a:solidFill>
            <a:srgbClr val="0FC3C0"/>
          </a:solidFill>
          <a:ln/>
        </p:spPr>
      </p:sp>
      <p:sp>
        <p:nvSpPr>
          <p:cNvPr id="18" name="Text 13"/>
          <p:cNvSpPr/>
          <p:nvPr/>
        </p:nvSpPr>
        <p:spPr>
          <a:xfrm>
            <a:off x="3149426" y="3253160"/>
            <a:ext cx="1893094" cy="175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❄️</a:t>
            </a:r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Snowflake Schema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3149426" y="3526631"/>
            <a:ext cx="1893094" cy="883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Dimension tables are further normalized into sub-dimensions. </a:t>
            </a:r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Saves storage</a:t>
            </a:r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but adds query complexity — better for large, complex warehouses.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531391"/>
            <a:ext cx="8063954" cy="415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Layer 4: Data Marts &amp; Reporting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0023" y="1236241"/>
            <a:ext cx="8521154" cy="235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final layer is where data reaches the people who need it. This is the consumer-facing end of the warehouse architecture.</a:t>
            </a:r>
            <a:endParaRPr lang="en-US" sz="1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0023" y="1634579"/>
            <a:ext cx="298921" cy="2989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19919" y="1685925"/>
            <a:ext cx="2087389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 Marts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19919" y="1980381"/>
            <a:ext cx="2087389" cy="1648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Subject-specific subsets of the warehouse — for example, a </a:t>
            </a:r>
            <a:pPr algn="l" indent="0" marL="0">
              <a:lnSpc>
                <a:spcPct val="131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Sales Mart</a:t>
            </a:r>
            <a:pPr algn="l" indent="0" marL="0">
              <a:lnSpc>
                <a:spcPct val="131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or </a:t>
            </a:r>
            <a:pPr algn="l" indent="0" marL="0">
              <a:lnSpc>
                <a:spcPct val="131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Finance Mart</a:t>
            </a:r>
            <a:pPr algn="l" indent="0" marL="0">
              <a:lnSpc>
                <a:spcPct val="131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 Individual teams get faster, focused query performance without touching the full warehouse.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88283" y="1634579"/>
            <a:ext cx="298921" cy="29892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768179" y="1685925"/>
            <a:ext cx="2087463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OLAP Cubes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768179" y="1980381"/>
            <a:ext cx="2087463" cy="1412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Pre-aggregated, </a:t>
            </a:r>
            <a:pPr algn="l" indent="0" marL="0">
              <a:lnSpc>
                <a:spcPct val="131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multidimensional structures</a:t>
            </a:r>
            <a:pPr algn="l" indent="0" marL="0">
              <a:lnSpc>
                <a:spcPct val="131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that allow analysts to slice and dice data across dimensions like time, region, and product for rapid exploration.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36618" y="1634579"/>
            <a:ext cx="298921" cy="29892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516514" y="1685925"/>
            <a:ext cx="2087389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Reporting &amp; BI Tools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6516514" y="1980381"/>
            <a:ext cx="2087389" cy="1412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BI platforms like </a:t>
            </a:r>
            <a:pPr algn="l" indent="0" marL="0">
              <a:lnSpc>
                <a:spcPct val="131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Tableau</a:t>
            </a:r>
            <a:pPr algn="l" indent="0" marL="0">
              <a:lnSpc>
                <a:spcPct val="131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</a:t>
            </a:r>
            <a:pPr algn="l" indent="0" marL="0">
              <a:lnSpc>
                <a:spcPct val="131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Power BI</a:t>
            </a:r>
            <a:pPr algn="l" indent="0" marL="0">
              <a:lnSpc>
                <a:spcPct val="131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and </a:t>
            </a:r>
            <a:pPr algn="l" indent="0" marL="0">
              <a:lnSpc>
                <a:spcPct val="131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Looker</a:t>
            </a:r>
            <a:pPr algn="l" indent="0" marL="0">
              <a:lnSpc>
                <a:spcPct val="131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connect to this layer to deliver interactive dashboards, ad-hoc queries, and scheduled reports to end users across the organization.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540023" y="3791396"/>
            <a:ext cx="8063954" cy="820713"/>
          </a:xfrm>
          <a:prstGeom prst="roundRect">
            <a:avLst>
              <a:gd name="adj" fmla="val 27321"/>
            </a:avLst>
          </a:prstGeom>
          <a:solidFill>
            <a:srgbClr val="00805A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446" y="4004593"/>
            <a:ext cx="186854" cy="14942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25723" y="3973562"/>
            <a:ext cx="7428830" cy="470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full journey:</a:t>
            </a:r>
            <a:pPr algn="l" indent="0" marL="0">
              <a:lnSpc>
                <a:spcPct val="131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Raw data enters through sources → is cleaned via ETL → stored in the warehouse → surfaced through marts and BI tools as actionable insights.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2026-07-20T05:15:09Z</dcterms:created>
  <dcterms:modified xsi:type="dcterms:W3CDTF">2026-07-20T05:15:09Z</dcterms:modified>
</cp:coreProperties>
</file>